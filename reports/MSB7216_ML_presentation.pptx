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3B"/>
                </a:solidFill>
                <a:latin typeface="Arial"/>
              </a:rPr>
              <a:t>SHAP Importance by Feature Family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Importance (%)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707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85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07D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Colour</c:v>
                  </c:pt>
                  <c:pt idx="1">
                    <c:v>GLCM</c:v>
                  </c:pt>
                  <c:pt idx="2">
                    <c:v>LBP</c:v>
                  </c:pt>
                  <c:pt idx="3">
                    <c:v>HOG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10</c:v>
                </c:pt>
                <c:pt idx="2">
                  <c:v>7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E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E3B"/>
                </a:solidFill>
                <a:latin typeface="Arial"/>
              </a:rPr>
              <a:t>Performance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 (ML)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AUC-ROC</c:v>
                  </c:pt>
                  <c:pt idx="2">
                    <c:v>F1 (macro)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99.87</c:v>
                </c:pt>
                <c:pt idx="1">
                  <c:v>100</c:v>
                </c:pt>
                <c:pt idx="2">
                  <c:v>99.87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ResNet-50 (DL)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Accuracy</c:v>
                  </c:pt>
                  <c:pt idx="1">
                    <c:v>AUC-ROC</c:v>
                  </c:pt>
                  <c:pt idx="2">
                    <c:v>F1 (macro)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99.87</c:v>
                </c:pt>
                <c:pt idx="1">
                  <c:v>99.99</c:v>
                </c:pt>
                <c:pt idx="2">
                  <c:v>99.87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.1"/>
          <c:min val="99.7"/>
        </c:scaling>
        <c:delete val="0"/>
        <c:axPos val="l"/>
        <c:majorGridlines>
          <c:spPr>
            <a:ln w="6350" cap="flat">
              <a:solidFill>
                <a:srgbClr val="E2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classical machine learning track of the MSB7216 final project. Total time: 12–14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gap: deep learning is accurate but opaque and GPU-hungry. The question is whether classical ML can close that gap while remaining interpretable.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Highlighted row is this study. No prior work combined this feature set with SHAP and a fair split-level DL comparison on LC25000.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gaps. Emphasise the third: fair comparison on identical splits has not been done. (~45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paragraph aloud. Single paragraph, no boxes, dark background. (~30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main objective first then walk through the four specific objectives. (~45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perfect class balance. Same split as DL pipeline makes the comparison valid.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raw image → Macenko normalisation → resize → 4 feature families. Colour dominates at 82% SHAP importance. (~90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models from simplest to most complex. XGBoost highlighted. No-leakage discipline: scaler and PCA fitted on training data only.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XGBoost and ResNet-50 rows — identical accuracy. Gap column shows generalisation quality.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is nearly diagonal. ~5 misclassifications total. All ROC curves sit in the top-left corner. The AUC values in the legend all read 1.000. (~45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uses actual SHAP values. Walk through the key finding: colour explains 82%, connecting directly to what pathologists see.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models reach 99.87%. The difference is cost and transparency. The table column colours match the chart legend.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every model makes the same mistake. This tells us the confusion is in the biology at the patch level, not in the method. (~45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2–3 to speak to. Most important: split-before-fitting (methodology rigour) and colour dominance (scientific insight). (~60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three numbers: 99.87% accuracy, 82% colour importance, 0.0013 gap. End with future directions. (~45 sec)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time for questions. Be ready to discuss: (1) why XGBoost not RF — smaller gap; (2) improving lung_aca/scc — nuclear morphology features; (3) clinical deployment — needs prospective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0"/>
            <a:ext cx="8503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&amp; Colon Cancer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Histopathology Classification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2514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4A0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Handcrafted Features and Gradient Boosting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20040" y="42062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C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Odyek Henry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C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2025/HD07/26018U  |  Makerere University, Kampala  |  MSB7216 — Deep Learning for Health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Histopathology Classification?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5486400" cy="3200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and colorectal cancers rank among the top causes of cancer mortality globally (Bray et al., 2018).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depends on microscopic H&amp;E tissue examination — time-consuming and expert-dependent.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classification can reduce workload and improve diagnostic consistency.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achieves &gt;99% accuracy but is opaque and GPU-dependent.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with handcrafted features offers interpretable, CPU-friendly alternatives — under-explored on modern benchmarks.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713232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78638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035040" y="13807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H&amp;E images (LC25000)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066544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2139696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35040" y="27340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tissue classes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419856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4930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99.87%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40873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ResNet-50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87782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13232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Borkowski et al. (2019)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713232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Introduced LC25000; CNN exceeds 99% on 5-class tissue classification.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147572"/>
            <a:ext cx="8778240" cy="411480"/>
          </a:xfrm>
          <a:prstGeom prst="rect">
            <a:avLst/>
          </a:prstGeom>
          <a:solidFill>
            <a:srgbClr val="F0F5F7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75004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Haralick et al. (1973)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175004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GLCM texture features for spatial cell arrangement.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609344"/>
            <a:ext cx="87782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36776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Ojala et al. (2002)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636776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Binary Patterns — efficient rotation-invariant texture descriptor.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2071116"/>
            <a:ext cx="8778240" cy="411480"/>
          </a:xfrm>
          <a:prstGeom prst="rect">
            <a:avLst/>
          </a:prstGeom>
          <a:solidFill>
            <a:srgbClr val="F0F5F7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98548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Dalal &amp; Triggs (2005)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098548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HOG descriptors capture local edge and gradient structure.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2532888"/>
            <a:ext cx="87782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60320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Macenko et al. (2009)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560320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SVD-based stain normalisation maps slides to a fixed H&amp;E reference.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994660"/>
            <a:ext cx="8778240" cy="411480"/>
          </a:xfrm>
          <a:prstGeom prst="rect">
            <a:avLst/>
          </a:prstGeom>
          <a:solidFill>
            <a:srgbClr val="F0F5F7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22092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(2001)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022092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forests reduce variance via decorrelated tree ensembles.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3456432"/>
            <a:ext cx="877824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Guestrin (2016)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483864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— regularised gradient boosting, competitive on feature data.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3918204"/>
            <a:ext cx="8778240" cy="411480"/>
          </a:xfrm>
          <a:prstGeom prst="rect">
            <a:avLst/>
          </a:prstGeom>
          <a:solidFill>
            <a:srgbClr val="F0F5F7"/>
          </a:solidFill>
          <a:ln w="3810">
            <a:solidFill>
              <a:srgbClr val="E2E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45636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 &amp; Lee (2017)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945636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SHAP provides consistent, model-agnostic feature attribution.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4379976"/>
            <a:ext cx="8778240" cy="411480"/>
          </a:xfrm>
          <a:prstGeom prst="rect">
            <a:avLst/>
          </a:prstGeom>
          <a:solidFill>
            <a:srgbClr val="E3F4F4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407408"/>
            <a:ext cx="2286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(2025)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4407408"/>
            <a:ext cx="62179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421 handcrafted features + XGBoost = 99.87% on LC25000, full SHAP analysis, CPU only.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64008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138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accurate but opaque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CNNs exceed 99% on LC25000 yet predictions cannot be traced to named biological features without extra post-hoc tools.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2167128"/>
            <a:ext cx="64008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03704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dependency limits clinical reach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ResNet-50 requires hours of GPU training — hardware unavailable in many low-resource clinical facilities.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3557016"/>
            <a:ext cx="64008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593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under-explored at this scale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950208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published study applies a multi-family handcrafted feature set with SHAP analysis on LC25000 compared fairly against deep learning on identical splits.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histopathology classification with convolutional neural networks achieves near-perfect accuracy but produces decisions that cannot be directly explained in biological terms, and requires GPU infrastructure that is often unavailable in low-resource healthcare settings. This study asks whether a machine learning pipeline based on handcrafted colour, texture, and structural features can match deep learning accuracy on the LC25000 dataset while providing built-in feature-level explanations and running entirely on standard CPU hardware.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4241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 design and evaluate a classical machine learning pipeline for five-class histopathology classification using handcrafted image features, and to compare its performance and interpretability against a deep learning baseline on the same data splits.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773936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121408"/>
            <a:ext cx="8412480" cy="2651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 421-dimensional feature set (colour, GLCM, LBP, HOG) after Macenko stain normalisation.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evaluate four classifiers: logistic regression, k-NN, random forest, and XGBoost.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feature families carry the most predictive importance using SHAP, permutation importance, and native feature importance.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best classical model against ResNet-50 on accuracy, AUC-ROC, training cost, and explainability.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LC25000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Borkowski et al. (2019)  |  arXiv:1912.12142  |  25,000 H&amp;E histopathology images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5120640" cy="260604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10058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colon_aca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 adenocarcinoma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colon_n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colon tissue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lung_aca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adenocarcinoma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lung_n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lung tissue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lung_scc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squamous cell carcinoma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 (seed = 42, same as DL pipeline)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40050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 70%   ·   Validation 15%   ·   Test 15%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713232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7498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806440" y="12252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1792224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8288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768×768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806440" y="23042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raw resolution (px)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2871216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290779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06440" y="3383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resized for extraction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3950208"/>
            <a:ext cx="3017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398678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806440" y="4462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5,000 per class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Feature Extraction Pipeline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1261872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1323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768×768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453896" y="713232"/>
            <a:ext cx="14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713232"/>
            <a:ext cx="1261872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71323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Macenko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16936" y="713232"/>
            <a:ext cx="14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713232"/>
            <a:ext cx="1261872" cy="7132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71323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79976" y="713232"/>
            <a:ext cx="14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713232"/>
            <a:ext cx="1261872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1323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 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43016" y="713232"/>
            <a:ext cx="14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713232"/>
            <a:ext cx="1261872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71323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PCA-50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06056" y="713232"/>
            <a:ext cx="146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7D8B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0" y="713232"/>
            <a:ext cx="1261872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71323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1572768"/>
            <a:ext cx="2066544" cy="2999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572768"/>
            <a:ext cx="2066544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157276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" y="19568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dims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74320" y="2359152"/>
            <a:ext cx="1883664" cy="1481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RGB/HSV/LAB moments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 HSV histograms.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 H&amp;E stain differences.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2880" y="3877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82%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4169664"/>
            <a:ext cx="2066544" cy="12801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4169664"/>
            <a:ext cx="1694566" cy="12801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1572768"/>
            <a:ext cx="2066544" cy="2999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1572768"/>
            <a:ext cx="2066544" cy="347472"/>
          </a:xfrm>
          <a:prstGeom prst="rect">
            <a:avLst/>
          </a:prstGeom>
          <a:solidFill>
            <a:srgbClr val="147070"/>
          </a:solidFill>
          <a:ln w="12700">
            <a:solidFill>
              <a:srgbClr val="147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157276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77440" y="19568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dims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468880" y="2359152"/>
            <a:ext cx="1883664" cy="1481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Haralick properties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d={1,3}, 4 angles.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Spatial cell regularity.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77440" y="3877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10%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77440" y="4169664"/>
            <a:ext cx="2066544" cy="12801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169664"/>
            <a:ext cx="206654" cy="128016"/>
          </a:xfrm>
          <a:prstGeom prst="rect">
            <a:avLst/>
          </a:prstGeom>
          <a:solidFill>
            <a:srgbClr val="147070"/>
          </a:solidFill>
          <a:ln w="12700">
            <a:solidFill>
              <a:srgbClr val="1470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1572768"/>
            <a:ext cx="2066544" cy="2999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1572768"/>
            <a:ext cx="2066544" cy="347472"/>
          </a:xfrm>
          <a:prstGeom prst="rect">
            <a:avLst/>
          </a:prstGeom>
          <a:solidFill>
            <a:srgbClr val="4A8585"/>
          </a:solidFill>
          <a:ln w="12700">
            <a:solidFill>
              <a:srgbClr val="4A85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157276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19568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dims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663440" y="2359152"/>
            <a:ext cx="1883664" cy="1481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Uniform LBP P=8,R=1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histogram.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Micro-texture patterns.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0" y="3877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8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7%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4169664"/>
            <a:ext cx="2066544" cy="12801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0" y="4169664"/>
            <a:ext cx="144658" cy="128016"/>
          </a:xfrm>
          <a:prstGeom prst="rect">
            <a:avLst/>
          </a:prstGeom>
          <a:solidFill>
            <a:srgbClr val="4A8585"/>
          </a:solidFill>
          <a:ln w="12700">
            <a:solidFill>
              <a:srgbClr val="4A858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1572768"/>
            <a:ext cx="2066544" cy="2999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1572768"/>
            <a:ext cx="2066544" cy="34747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1572768"/>
            <a:ext cx="2066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66560" y="19568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dims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858000" y="2359152"/>
            <a:ext cx="1883664" cy="1481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orientations,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56×56px cells.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Edge and gradient structure.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66560" y="387705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1%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66560" y="4169664"/>
            <a:ext cx="2066544" cy="128016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0" y="4169664"/>
            <a:ext cx="20665" cy="128016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and Experimental Setup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1323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13232"/>
            <a:ext cx="1664208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1323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" y="1280160"/>
            <a:ext cx="1517904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Multinomial, max_iter=2000.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baseline.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3337560"/>
            <a:ext cx="1664208" cy="45720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Scaled 421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56816" y="71323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6816" y="713232"/>
            <a:ext cx="1664208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71323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29968" y="1280160"/>
            <a:ext cx="1517904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 ∈ {3,5,7,9},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3-fold CV.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56816" y="3337560"/>
            <a:ext cx="1664208" cy="45720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56816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PCA-50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30752" y="71323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0752" y="713232"/>
            <a:ext cx="1664208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71323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03904" y="1280160"/>
            <a:ext cx="1517904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n_est {200,400},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max_depth {20,30,None}.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30752" y="3337560"/>
            <a:ext cx="1664208" cy="45720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Scaled 421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04688" y="71323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713232"/>
            <a:ext cx="1664208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71323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577840" y="1280160"/>
            <a:ext cx="1517904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 {1,10}, γ {scale,0.01}.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Tuned on 6K subset.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04688" y="3337560"/>
            <a:ext cx="1664208" cy="45720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PCA-50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78624" y="713232"/>
            <a:ext cx="1664208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78624" y="713232"/>
            <a:ext cx="1664208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71323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51776" y="1280160"/>
            <a:ext cx="1517904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600 trees, depth 6, lr=0.1.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 stopping (patience=30).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78624" y="3337560"/>
            <a:ext cx="1664208" cy="457200"/>
          </a:xfrm>
          <a:prstGeom prst="rect">
            <a:avLst/>
          </a:prstGeom>
          <a:solidFill>
            <a:srgbClr val="E2ECF0"/>
          </a:solidFill>
          <a:ln w="12700">
            <a:solidFill>
              <a:srgbClr val="E2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78624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Scaled 421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" y="3931920"/>
            <a:ext cx="87782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Metrics: Accuracy · AUC-ROC (macro) · F1 (macro) · Sensitivity · Specificity   |   Test set: 3,750 images   |   Platform: Google Colab CPU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Leaderboard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13232"/>
          <a:ext cx="8778240" cy="3383280"/>
        </p:xfrm>
        <a:graphic>
          <a:graphicData uri="http://schemas.openxmlformats.org/drawingml/2006/table">
            <a:tbl>
              <a:tblPr/>
              <a:tblGrid>
                <a:gridCol w="1691640"/>
                <a:gridCol w="1097280"/>
                <a:gridCol w="1097280"/>
                <a:gridCol w="1097280"/>
                <a:gridCol w="1097280"/>
                <a:gridCol w="1097280"/>
                <a:gridCol w="1600200"/>
              </a:tblGrid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(macro)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F4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(DL)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160520"/>
            <a:ext cx="87782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XGBoost matches ResNet-50 exactly at 99.87% — training on CPU in minutes vs GPU hours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2880" y="4480560"/>
            <a:ext cx="877824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 = training accuracy − test accuracy.  All models: dominant error between lung_aca and lung_scc.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XGBoost Confusion Matrix &amp; ROC Curves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58368"/>
            <a:ext cx="4251960" cy="42062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58368"/>
            <a:ext cx="429768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" y="486460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Confusion matrix: 3,750 test images. Errors concentrated in lung_aca ↔ lung_scc.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663440" y="48646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five classes: AUC = 1.000. Curves overlap perfectly above the diagonal.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Feature Importance and SHAP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685800"/>
          <a:ext cx="42062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71323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63440" y="1078992"/>
            <a:ext cx="4297680" cy="3291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features dominate at 82% — H&amp;E staining differences are the primary discriminator.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feature: skewness of the red channel (color_RGB_c0_skew), capturing haematoxylin density asymmetry.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homogeneity is key for separating lung_aca from lung_scc — different cellular packing densities.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edge features contribute &lt;2% — global edge statistics add little beyond colour and texture.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importance and permutation importance give the same family ranking — consistent finding.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82880" y="4096512"/>
            <a:ext cx="87782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SHAP connects decisions to biology: colour → staining, GLCM → cell arrangement, LBP → micro-texture.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 Deep Learning — Head-to-Head Comparison</a:t>
            </a:r>
            <a:endParaRPr lang="en-US" sz="2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685800"/>
          <a:ext cx="4297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685800"/>
          <a:ext cx="4206240" cy="3200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min  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importance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(post-hoc)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D73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8A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(without tools)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82880" y="4160520"/>
            <a:ext cx="877824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Equal accuracy, lower cost, higher transparency. The ML pipeline is the better choice when explainability and resource constraints matter.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the models fail?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078992"/>
            <a:ext cx="8412480" cy="2560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error: lung_aca predicted as lung_scc and vice versa — consistent across all five models.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misclassifies ~5 of 3,750 test images in total; almost all are the lung_aca ↔ lung_scc pair.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confusion between colon and lung classes, or between benign and malignant classes across organs.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appears in the companion ResNet-50 pipeline — this is a data-level challenge, not a model weakness.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genuine morphological overlap between glandular (aca) and squamous (scc) lung tissue at patch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3794760"/>
            <a:ext cx="8778240" cy="822960"/>
          </a:xfrm>
          <a:prstGeom prst="rect">
            <a:avLst/>
          </a:prstGeom>
          <a:solidFill>
            <a:srgbClr val="FFF6E0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822192"/>
            <a:ext cx="8503920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Implication: reducing this error would require higher-resolution nuclear morphology features or multi-scale descriptors that distinguish glandular from squamous cell 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82880" y="749808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49808"/>
            <a:ext cx="28346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fitting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33856"/>
            <a:ext cx="2651760" cy="1335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Fitting the scaler or PCA before the train/test split inflates results. This was enforced strictly throughout the project.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749808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749808"/>
            <a:ext cx="28346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dominates histopathology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133856"/>
            <a:ext cx="2651760" cy="1335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H&amp;E staining encodes biology directly. 82% of SHAP importance came from colour features — connecting the model to what pathologists see.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749808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749808"/>
            <a:ext cx="28346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49808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expensive steps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133856"/>
            <a:ext cx="2651760" cy="1335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 extraction took ~90 minutes. Caching arrays to Drive meant all five model notebooks loaded in seconds.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688336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688336"/>
            <a:ext cx="28346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88336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dependencies early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072384"/>
            <a:ext cx="2651760" cy="1335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staintools and spams both fail on Colab Python 3.12. A custom NumPy/OpenCV Macenko was needed.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2688336"/>
            <a:ext cx="28346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2688336"/>
            <a:ext cx="28346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688336"/>
            <a:ext cx="26517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still competes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072384"/>
            <a:ext cx="2651760" cy="1335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XGBoost with handcrafted features matched ResNet-50 at 99.87%. On clean, balanced data, the feature engineering gap is small.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060704"/>
            <a:ext cx="8412480" cy="1828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421-feature classical ML pipeline classifies five tissue classes at 99.87% test accuracy — matching ResNet-50.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early stopping achieves this on CPU with a train-test gap of only 0.0013.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shows colour features drive 82% of predictions, connecting the model to known H&amp;E biology.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advantage over deep learning is explainability: decisions trace to named descriptors without post-hoc tools.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2944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291840"/>
            <a:ext cx="8412480" cy="1463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multi-site datasets to assess robustness to scanner and staining variation.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HOG with morphological/nuclear shape features for better biological grounding.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hybrid pipelines combining handcrafted interpretability with deep representation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0584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20040" y="224028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4A0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3154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C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GitHub:  </a:t>
            </a:r>
            <a:pPr algn="l" indent="0" marL="0">
              <a:buNone/>
            </a:pPr>
            <a:r>
              <a:rPr lang="en-US" sz="1300" dirty="0">
                <a:solidFill>
                  <a:srgbClr val="E2EC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github.com/hodyek/lung-colon-cancer-histopathology-ml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3538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C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Dataset:  </a:t>
            </a:r>
            <a:pPr algn="l" indent="0" marL="0">
              <a:buNone/>
            </a:pPr>
            <a:r>
              <a:rPr lang="en-US" sz="1300" dirty="0">
                <a:solidFill>
                  <a:srgbClr val="E2EC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Borkowski et al. (2019) — LC25000 — arXiv:1912.12142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4343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Odyek Henry  |  2025/HD07/26018U  |  Makerere University  |  MSB7216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and Colon Cancer Histopathology – ML Pipeline</dc:title>
  <dc:subject>PptxGenJS Presentation</dc:subject>
  <dc:creator>Odyek Henry</dc:creator>
  <cp:lastModifiedBy>Odyek Henry</cp:lastModifiedBy>
  <cp:revision>1</cp:revision>
  <dcterms:created xsi:type="dcterms:W3CDTF">2026-06-06T19:44:49Z</dcterms:created>
  <dcterms:modified xsi:type="dcterms:W3CDTF">2026-06-06T19:44:49Z</dcterms:modified>
</cp:coreProperties>
</file>